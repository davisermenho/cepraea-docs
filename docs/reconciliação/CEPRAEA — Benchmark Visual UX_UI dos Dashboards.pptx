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Inter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Inter-italic.fntdata"/><Relationship Id="rId10" Type="http://schemas.openxmlformats.org/officeDocument/2006/relationships/slide" Target="slides/slide5.xml"/><Relationship Id="rId32" Type="http://schemas.openxmlformats.org/officeDocument/2006/relationships/font" Target="fonts/Inter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Inter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cover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cover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method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metho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ref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ref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ref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ref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ref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ref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ref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ref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ref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ref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ref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ref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ref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ref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ref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ref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ref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ref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ref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ref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ref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ref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ref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ref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ref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ref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ref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ref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ref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ref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synth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synth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ig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hig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dsfound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dsfoun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athspec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athspec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coachspec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coachspec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components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components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athlayout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athlayout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coachlayout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coachlayout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08000" y="889000"/>
            <a:ext cx="81279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CEPRAEA — Benchmark Visual UX/UI dos Dashboards</a:t>
            </a:r>
            <a:endParaRPr b="1" sz="30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33400" y="2603500"/>
            <a:ext cx="7874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B2A8B8"/>
                </a:solidFill>
                <a:latin typeface="Inter"/>
                <a:ea typeface="Inter"/>
                <a:cs typeface="Inter"/>
                <a:sym typeface="Inter"/>
              </a:rPr>
              <a:t>15 screenshots reais de produtos esportivos + especificação objetiva do Design System CEPRAEA.</a:t>
            </a:r>
            <a:endParaRPr sz="1600">
              <a:solidFill>
                <a:srgbClr val="B2A8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B2A8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B2A8B8"/>
                </a:solidFill>
                <a:latin typeface="Inter"/>
                <a:ea typeface="Inter"/>
                <a:cs typeface="Inter"/>
                <a:sym typeface="Inter"/>
              </a:rPr>
              <a:t>Meta: reduzir neon, eliminar aparência de template/IA e criar uma linguagem própria, premium e funcional para ATLETA e TREINADOR.</a:t>
            </a:r>
            <a:endParaRPr sz="1600">
              <a:solidFill>
                <a:srgbClr val="B2A8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33400" y="4191000"/>
            <a:ext cx="787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50">
                <a:solidFill>
                  <a:srgbClr val="A8D14A"/>
                </a:solidFill>
                <a:latin typeface="Inter"/>
                <a:ea typeface="Inter"/>
                <a:cs typeface="Inter"/>
                <a:sym typeface="Inter"/>
              </a:rPr>
              <a:t>REFERÊNCIAS: Nike Run Club · WHOOP · Strava · TrainingPeaks · Garmin Connect · Kitman Labs · Apple HIG</a:t>
            </a:r>
            <a:endParaRPr b="1" sz="1050">
              <a:solidFill>
                <a:srgbClr val="A8D14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457200" y="355600"/>
            <a:ext cx="82551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Como o benchmark será usado</a:t>
            </a:r>
            <a:endParaRPr b="1" sz="24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508000" y="1206500"/>
            <a:ext cx="8127900" cy="3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1. SCREENSHOT REAL — evidência visual do produto de referência.</a:t>
            </a:r>
            <a:endParaRPr sz="150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2. ADOTAR — princípio que resolve um problema real do CEPRAEA.</a:t>
            </a:r>
            <a:endParaRPr sz="150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3. ADAPTAR — usar a lógica, mas com identidade, dados e fluxos próprios.</a:t>
            </a:r>
            <a:endParaRPr sz="150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4. EVITAR — padrão que criaria ruído, excesso de neon, template genérico ou cópia.</a:t>
            </a:r>
            <a:endParaRPr sz="150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5. SAÍDA — Design System CEPRAEA com regras de cor, tipografia, iconografia, navegação, cards, densidade e hierarquia.</a:t>
            </a:r>
            <a:endParaRPr sz="150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355600" y="254000"/>
            <a:ext cx="8255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01 — Nike Run Club · ação principal e hierarquia</a:t>
            </a:r>
            <a:endParaRPr b="1" sz="21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4445000" y="1168400"/>
            <a:ext cx="43815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ADOTAR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Uma ação principal dominante e leitura imediata.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ADAPTAR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O “Start a Run” vira “Você vai?” no próximo treino. Data, hora e resposta devem dominar a primeira dobra.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EVITAR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Feed social, desafios e navegação concorrendo com a decisão operacional.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55600" y="4724400"/>
            <a:ext cx="8255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877D8F"/>
                </a:solidFill>
                <a:latin typeface="Inter"/>
                <a:ea typeface="Inter"/>
                <a:cs typeface="Inter"/>
                <a:sym typeface="Inter"/>
              </a:rPr>
              <a:t>Fonte visual: asquared.uk — Nike Run Club App UX analysis</a:t>
            </a:r>
            <a:endParaRPr sz="950">
              <a:solidFill>
                <a:srgbClr val="877D8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500" y="1407371"/>
            <a:ext cx="3619501" cy="2582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355600" y="254000"/>
            <a:ext cx="8255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02 — Nike Run Club · conquistas e resumo de atividade</a:t>
            </a:r>
            <a:endParaRPr b="1" sz="21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4445000" y="1168400"/>
            <a:ext cx="43815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ADOTAR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Números fortes, marcos e recompensa visual discreta.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ADAPTAR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Usar em resultados de competição, títulos e evolução coletiva — não como jogo de pontos.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EVITAR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Medalhas e gamificação dominando a Home diária.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355600" y="4724400"/>
            <a:ext cx="8255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877D8F"/>
                </a:solidFill>
                <a:latin typeface="Inter"/>
                <a:ea typeface="Inter"/>
                <a:cs typeface="Inter"/>
                <a:sym typeface="Inter"/>
              </a:rPr>
              <a:t>Fonte visual: Cult of Mac — Nike Run Club review</a:t>
            </a:r>
            <a:endParaRPr sz="950">
              <a:solidFill>
                <a:srgbClr val="877D8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500" y="1503851"/>
            <a:ext cx="3619500" cy="2389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355600" y="254000"/>
            <a:ext cx="8255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03 — WHOOP · Home “at a glance”</a:t>
            </a:r>
            <a:endParaRPr b="1" sz="21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445000" y="1168400"/>
            <a:ext cx="43815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ADOTAR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Poucos indicadores essenciais e leitura em segundos.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ADAPTAR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Para o treinador: respostas, composição e alertas. Para a atleta: próximo treino e pendências.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EVITAR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Replicar biometria e wellness individual na Home da atleta.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55600" y="4724400"/>
            <a:ext cx="8255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877D8F"/>
                </a:solidFill>
                <a:latin typeface="Inter"/>
                <a:ea typeface="Inter"/>
                <a:cs typeface="Inter"/>
                <a:sym typeface="Inter"/>
              </a:rPr>
              <a:t>Fonte visual: Bless This Stuff — WHOOP 5 interface</a:t>
            </a:r>
            <a:endParaRPr sz="950">
              <a:solidFill>
                <a:srgbClr val="877D8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6633" y="1206500"/>
            <a:ext cx="2695233" cy="298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/>
        </p:nvSpPr>
        <p:spPr>
          <a:xfrm>
            <a:off x="355600" y="254000"/>
            <a:ext cx="8255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04 — WHOOP · scores e semântica de estado</a:t>
            </a:r>
            <a:endParaRPr b="1" sz="21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4445000" y="1168400"/>
            <a:ext cx="43815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ADOTAR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Cor ligada a significado e tendência, não decoração.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ADAPTAR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SIM=verde; TALVEZ=âmbar; NÃO=coral; SEM RESPOSTA=neutro. Índice CEPRAEA só no treinador.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EVITAR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Anéis, gauges e verde neon em todos os cards.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355600" y="4724400"/>
            <a:ext cx="8255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877D8F"/>
                </a:solidFill>
                <a:latin typeface="Inter"/>
                <a:ea typeface="Inter"/>
                <a:cs typeface="Inter"/>
                <a:sym typeface="Inter"/>
              </a:rPr>
              <a:t>Fonte visual: Digital Trends — WHOOP app screenshots</a:t>
            </a:r>
            <a:endParaRPr sz="950">
              <a:solidFill>
                <a:srgbClr val="877D8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500" y="1492552"/>
            <a:ext cx="3619500" cy="2412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/>
        </p:nvSpPr>
        <p:spPr>
          <a:xfrm>
            <a:off x="355600" y="254000"/>
            <a:ext cx="8255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05 — WHOOP · timeline e atividades do dia</a:t>
            </a:r>
            <a:endParaRPr b="1" sz="21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4445000" y="1168400"/>
            <a:ext cx="43815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ADOTAR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Timeline curta que explica “o que vem agora”.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ADAPTAR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Agenda CEPRAEA com treino, competição, resposta e local em uma linha consistente.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EVITAR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Mais de uma ação primária por bloco.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355600" y="4724400"/>
            <a:ext cx="8255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877D8F"/>
                </a:solidFill>
                <a:latin typeface="Inter"/>
                <a:ea typeface="Inter"/>
                <a:cs typeface="Inter"/>
                <a:sym typeface="Inter"/>
              </a:rPr>
              <a:t>Fonte visual: Prevention — WHOOP app activity view</a:t>
            </a:r>
            <a:endParaRPr sz="950">
              <a:solidFill>
                <a:srgbClr val="877D8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883" y="1206500"/>
            <a:ext cx="1372733" cy="2984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/>
        </p:nvSpPr>
        <p:spPr>
          <a:xfrm>
            <a:off x="355600" y="254000"/>
            <a:ext cx="8255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06 — Strava · dark mode e contraste esportivo</a:t>
            </a:r>
            <a:endParaRPr b="1" sz="21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4445000" y="1168400"/>
            <a:ext cx="43815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ADOTAR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Contraste, números fortes e conteúdo esportivo sem glow.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ADAPTAR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Datas, horários e status CEPRAEA com tipografia de alto impacto.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EVITAR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Mapas, segmentos e feed social quando não ajudam a decisão.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355600" y="4724400"/>
            <a:ext cx="8255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877D8F"/>
                </a:solidFill>
                <a:latin typeface="Inter"/>
                <a:ea typeface="Inter"/>
                <a:cs typeface="Inter"/>
                <a:sym typeface="Inter"/>
              </a:rPr>
              <a:t>Fonte visual: PhoneArena — Strava dark mode</a:t>
            </a:r>
            <a:endParaRPr sz="950">
              <a:solidFill>
                <a:srgbClr val="877D8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500" y="1680766"/>
            <a:ext cx="3619500" cy="2035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/>
        </p:nvSpPr>
        <p:spPr>
          <a:xfrm>
            <a:off x="355600" y="254000"/>
            <a:ext cx="8255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07 — Strava · atividade, histórico e progressão</a:t>
            </a:r>
            <a:endParaRPr b="1" sz="21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4445000" y="1168400"/>
            <a:ext cx="43815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ADOTAR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Listas de atividade com metadados consistentes e drill-down claro.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ADAPTAR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Treinos/competições por data, local, status e resposta individual.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EVITAR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Transformar o app em rede social ou ranking público entre atletas.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355600" y="4724400"/>
            <a:ext cx="8255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877D8F"/>
                </a:solidFill>
                <a:latin typeface="Inter"/>
                <a:ea typeface="Inter"/>
                <a:cs typeface="Inter"/>
                <a:sym typeface="Inter"/>
              </a:rPr>
              <a:t>Fonte visual: Cycling Weekly / Future — Strava activity interface</a:t>
            </a:r>
            <a:endParaRPr sz="950">
              <a:solidFill>
                <a:srgbClr val="877D8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500" y="1466339"/>
            <a:ext cx="3619500" cy="2464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/>
        </p:nvSpPr>
        <p:spPr>
          <a:xfrm>
            <a:off x="355600" y="254000"/>
            <a:ext cx="8255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08 — TrainingPeaks · calendário como eixo operacional</a:t>
            </a:r>
            <a:endParaRPr b="1" sz="21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4445000" y="1168400"/>
            <a:ext cx="43815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ADOTAR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Calendário e treino como eixo central do produto.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ADAPTAR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Evento CEPRAEA deve unir treino/competição, resposta e detalhe técnico sem depender da planilha mensal.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EVITAR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Densidade analítica de treinador na Home da atleta.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22"/>
          <p:cNvSpPr txBox="1"/>
          <p:nvPr/>
        </p:nvSpPr>
        <p:spPr>
          <a:xfrm>
            <a:off x="355600" y="4724400"/>
            <a:ext cx="8255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877D8F"/>
                </a:solidFill>
                <a:latin typeface="Inter"/>
                <a:ea typeface="Inter"/>
                <a:cs typeface="Inter"/>
                <a:sym typeface="Inter"/>
              </a:rPr>
              <a:t>Fonte visual: TrainingPeaks Help Center — Peak Performances (Mobile)</a:t>
            </a:r>
            <a:endParaRPr sz="950">
              <a:solidFill>
                <a:srgbClr val="877D8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811" y="1206500"/>
            <a:ext cx="2762880" cy="2984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/>
        </p:nvSpPr>
        <p:spPr>
          <a:xfrm>
            <a:off x="355600" y="254000"/>
            <a:ext cx="8255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09 — TrainingPeaks · Athlete Home e insights</a:t>
            </a:r>
            <a:endParaRPr b="1" sz="21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4445000" y="1168400"/>
            <a:ext cx="43815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ADOTAR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Home adaptada às prioridades do usuário e leitura resumida antes do detalhe.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ADAPTAR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Atleta: treino, resposta, competição. Treinador: composição, alertas, qualidade.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EVITAR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Uma Home “one size fits all” idêntica para os dois perfis.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355600" y="4724400"/>
            <a:ext cx="8255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877D8F"/>
                </a:solidFill>
                <a:latin typeface="Inter"/>
                <a:ea typeface="Inter"/>
                <a:cs typeface="Inter"/>
                <a:sym typeface="Inter"/>
              </a:rPr>
              <a:t>Fonte visual: TrainingPeaks Help Center — Athlete Home Performance Insights</a:t>
            </a:r>
            <a:endParaRPr sz="950">
              <a:solidFill>
                <a:srgbClr val="877D8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8125" y="1206500"/>
            <a:ext cx="1492250" cy="298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/>
        </p:nvSpPr>
        <p:spPr>
          <a:xfrm>
            <a:off x="355600" y="254000"/>
            <a:ext cx="8255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10 — TrainingPeaks · alertas do treinador</a:t>
            </a:r>
            <a:endParaRPr b="1" sz="21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24"/>
          <p:cNvSpPr txBox="1"/>
          <p:nvPr/>
        </p:nvSpPr>
        <p:spPr>
          <a:xfrm>
            <a:off x="4445000" y="1168400"/>
            <a:ext cx="43815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ADOTAR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Alertas precisam levar diretamente à ação.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ADAPTAR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Sem resposta, evento inconsistente, resultado incompleto e falha de sincronização entram na Central do treinador.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EVITAR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Alertas decorativos, genéricos ou sem caminho de resolução.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355600" y="4724400"/>
            <a:ext cx="8255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877D8F"/>
                </a:solidFill>
                <a:latin typeface="Inter"/>
                <a:ea typeface="Inter"/>
                <a:cs typeface="Inter"/>
                <a:sym typeface="Inter"/>
              </a:rPr>
              <a:t>Fonte visual: TrainingPeaks Help Center — Coach Home alerts</a:t>
            </a:r>
            <a:endParaRPr sz="950">
              <a:solidFill>
                <a:srgbClr val="877D8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500" y="1795918"/>
            <a:ext cx="3619498" cy="1805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/>
        </p:nvSpPr>
        <p:spPr>
          <a:xfrm>
            <a:off x="355600" y="254000"/>
            <a:ext cx="8255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11 — Garmin Connect · “At a Glance” modular</a:t>
            </a:r>
            <a:endParaRPr b="1" sz="21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4445000" y="1168400"/>
            <a:ext cx="43815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ADOTAR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Módulos pequenos para leitura rápida.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ADAPTAR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No treinador: respostas, composição, temporada e alertas. No atleta: agenda e status, sem grade de métricas.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EVITAR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Widgetização excessiva sem prioridade clara.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25"/>
          <p:cNvSpPr txBox="1"/>
          <p:nvPr/>
        </p:nvSpPr>
        <p:spPr>
          <a:xfrm>
            <a:off x="355600" y="4724400"/>
            <a:ext cx="8255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877D8F"/>
                </a:solidFill>
                <a:latin typeface="Inter"/>
                <a:ea typeface="Inter"/>
                <a:cs typeface="Inter"/>
                <a:sym typeface="Inter"/>
              </a:rPr>
              <a:t>Fonte visual: Garmin — Connect product imagery</a:t>
            </a:r>
            <a:endParaRPr sz="950">
              <a:solidFill>
                <a:srgbClr val="877D8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206500"/>
            <a:ext cx="2984500" cy="298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/>
        </p:nvSpPr>
        <p:spPr>
          <a:xfrm>
            <a:off x="355600" y="254000"/>
            <a:ext cx="8255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12 — Garmin Connect · “In Focus” e priorização</a:t>
            </a:r>
            <a:endParaRPr b="1" sz="21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p26"/>
          <p:cNvSpPr txBox="1"/>
          <p:nvPr/>
        </p:nvSpPr>
        <p:spPr>
          <a:xfrm>
            <a:off x="4445000" y="1168400"/>
            <a:ext cx="43815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ADOTAR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Separar atividade do dia de conteúdo “em foco”.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ADAPTAR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Hero = próximo treino. Secundário = próxima competição/alertas.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EVITAR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Colocar tudo com o mesmo peso visual.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" name="Google Shape;157;p26"/>
          <p:cNvSpPr txBox="1"/>
          <p:nvPr/>
        </p:nvSpPr>
        <p:spPr>
          <a:xfrm>
            <a:off x="355600" y="4724400"/>
            <a:ext cx="8255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877D8F"/>
                </a:solidFill>
                <a:latin typeface="Inter"/>
                <a:ea typeface="Inter"/>
                <a:cs typeface="Inter"/>
                <a:sym typeface="Inter"/>
              </a:rPr>
              <a:t>Fonte visual: Garmin — Connect product imagery</a:t>
            </a:r>
            <a:endParaRPr sz="950">
              <a:solidFill>
                <a:srgbClr val="877D8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8" name="Google Shape;1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206500"/>
            <a:ext cx="2984500" cy="298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/>
        </p:nvSpPr>
        <p:spPr>
          <a:xfrm>
            <a:off x="355600" y="254000"/>
            <a:ext cx="8255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13 — Garmin Connect · densidade operacional</a:t>
            </a:r>
            <a:endParaRPr b="1" sz="21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4445000" y="1168400"/>
            <a:ext cx="43815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ADOTAR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Densidade maior apenas para quem precisa operar e decidir.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ADAPTAR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Central do treinador pode ter 4–6 módulos, desde que cada um represente uma decisão real.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EVITAR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Aplicar a mesma densidade à atleta.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355600" y="4724400"/>
            <a:ext cx="8255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877D8F"/>
                </a:solidFill>
                <a:latin typeface="Inter"/>
                <a:ea typeface="Inter"/>
                <a:cs typeface="Inter"/>
                <a:sym typeface="Inter"/>
              </a:rPr>
              <a:t>Fonte visual: Live for the Outdoors — Garmin Connect app</a:t>
            </a:r>
            <a:endParaRPr sz="950">
              <a:solidFill>
                <a:srgbClr val="877D8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6" name="Google Shape;1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500" y="1680766"/>
            <a:ext cx="3619501" cy="2035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/>
        </p:nvSpPr>
        <p:spPr>
          <a:xfrm>
            <a:off x="355600" y="254000"/>
            <a:ext cx="8255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14 — Kitman Labs · Athlete Home e tarefas</a:t>
            </a:r>
            <a:endParaRPr b="1" sz="21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" name="Google Shape;172;p28"/>
          <p:cNvSpPr txBox="1"/>
          <p:nvPr/>
        </p:nvSpPr>
        <p:spPr>
          <a:xfrm>
            <a:off x="4445000" y="1168400"/>
            <a:ext cx="43815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ADOTAR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Pendências e formulários como tarefas explícitas.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ADAPTAR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Questionários, confirmações e convocações aparecem como ação com contexto, não apenas badge.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EVITAR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Home baseada em notificações sem prioridade.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" name="Google Shape;173;p28"/>
          <p:cNvSpPr txBox="1"/>
          <p:nvPr/>
        </p:nvSpPr>
        <p:spPr>
          <a:xfrm>
            <a:off x="355600" y="4724400"/>
            <a:ext cx="8255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877D8F"/>
                </a:solidFill>
                <a:latin typeface="Inter"/>
                <a:ea typeface="Inter"/>
                <a:cs typeface="Inter"/>
                <a:sym typeface="Inter"/>
              </a:rPr>
              <a:t>Fonte visual: AppAdvice / App Store — Kitman Labs Athlete</a:t>
            </a:r>
            <a:endParaRPr sz="950">
              <a:solidFill>
                <a:srgbClr val="877D8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4" name="Google Shape;1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611" y="1206500"/>
            <a:ext cx="1679278" cy="298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/>
        </p:nvSpPr>
        <p:spPr>
          <a:xfrm>
            <a:off x="355600" y="254000"/>
            <a:ext cx="8255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15 — Kitman Labs · visão integrada de performance</a:t>
            </a:r>
            <a:endParaRPr b="1" sz="21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29"/>
          <p:cNvSpPr txBox="1"/>
          <p:nvPr/>
        </p:nvSpPr>
        <p:spPr>
          <a:xfrm>
            <a:off x="4445000" y="1168400"/>
            <a:ext cx="43815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ADOTAR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Integração de contexto esportivo, disponibilidade, wellness e operação para o treinador.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ADAPTAR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Dados sensíveis entram apenas em visão autorizada e quando ajudam uma decisão.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EVITAR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1CCD6"/>
                </a:solidFill>
                <a:latin typeface="Inter"/>
                <a:ea typeface="Inter"/>
                <a:cs typeface="Inter"/>
                <a:sym typeface="Inter"/>
              </a:rPr>
              <a:t>Misturar dados médicos/wellness no painel individual da atleta por padrão.</a:t>
            </a:r>
            <a:endParaRPr sz="1350">
              <a:solidFill>
                <a:srgbClr val="D1CCD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29"/>
          <p:cNvSpPr txBox="1"/>
          <p:nvPr/>
        </p:nvSpPr>
        <p:spPr>
          <a:xfrm>
            <a:off x="355600" y="4724400"/>
            <a:ext cx="8255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877D8F"/>
                </a:solidFill>
                <a:latin typeface="Inter"/>
                <a:ea typeface="Inter"/>
                <a:cs typeface="Inter"/>
                <a:sym typeface="Inter"/>
              </a:rPr>
              <a:t>Fonte visual: Kitman Labs — Holistic Athlete Wellness</a:t>
            </a:r>
            <a:endParaRPr sz="950">
              <a:solidFill>
                <a:srgbClr val="877D8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2" name="Google Shape;18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350" y="1206500"/>
            <a:ext cx="3561798" cy="2984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/>
        </p:nvSpPr>
        <p:spPr>
          <a:xfrm>
            <a:off x="457200" y="304800"/>
            <a:ext cx="8255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Síntese — direção visual CEPRAEA</a:t>
            </a:r>
            <a:endParaRPr b="1" sz="25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8" name="Google Shape;188;p30"/>
          <p:cNvSpPr txBox="1"/>
          <p:nvPr/>
        </p:nvSpPr>
        <p:spPr>
          <a:xfrm>
            <a:off x="508000" y="1206500"/>
            <a:ext cx="8255100" cy="3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DIREÇÃO ESCOLHIDA — EDITORIAL PERFORMANCE SYSTEM</a:t>
            </a:r>
            <a:endParaRPr sz="14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• Nike Run Club → ação dominante e hierarquia.</a:t>
            </a:r>
            <a:endParaRPr sz="14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• WHOOP → semântica de estado e leitura “at a glance”.</a:t>
            </a:r>
            <a:endParaRPr sz="14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• Strava → listas esportivas, histórico e contraste.</a:t>
            </a:r>
            <a:endParaRPr sz="14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• TrainingPeaks → separação clara entre atleta e treinador.</a:t>
            </a:r>
            <a:endParaRPr sz="14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• Garmin → modularidade apenas onde a densidade ajuda a decisão.</a:t>
            </a:r>
            <a:endParaRPr sz="14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• Kitman Labs → operação profissional e dados de equipe.</a:t>
            </a:r>
            <a:endParaRPr sz="14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NÃO LEVAR PARA O CEPRAEA</a:t>
            </a:r>
            <a:endParaRPr sz="14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Glow/neon constante · grade de cards genéricos · ícones stock · excesso de gauges · home igual para todos · fotografia de atleta como decoração fixa.</a:t>
            </a:r>
            <a:endParaRPr sz="14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/>
        </p:nvSpPr>
        <p:spPr>
          <a:xfrm>
            <a:off x="457200" y="304800"/>
            <a:ext cx="8255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Guardrails de UX mobile — Apple HIG</a:t>
            </a:r>
            <a:endParaRPr b="1" sz="25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31"/>
          <p:cNvSpPr txBox="1"/>
          <p:nvPr/>
        </p:nvSpPr>
        <p:spPr>
          <a:xfrm>
            <a:off x="508000" y="1206500"/>
            <a:ext cx="82551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• Respeitar safe areas e barras do sistema.</a:t>
            </a:r>
            <a:endParaRPr sz="150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• Touch target mínimo: 44 × 44 pt.</a:t>
            </a:r>
            <a:endParaRPr sz="150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• Tab bar = apenas destinos de nível superior, sempre com label.</a:t>
            </a:r>
            <a:endParaRPr sz="150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• Atleta: 3 destinos fixos — Início · Agenda · Perfil.</a:t>
            </a:r>
            <a:endParaRPr sz="150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• Treinador: 4 destinos fixos — Central · Treino · Equipe · Mais.</a:t>
            </a:r>
            <a:endParaRPr sz="150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• Uma ação primária por contexto; ações secundárias não competem em cor/tamanho.</a:t>
            </a:r>
            <a:endParaRPr sz="150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• Navegação deve preservar estado e permitir voltar sem perda de resposta.</a:t>
            </a:r>
            <a:endParaRPr sz="150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• Estados Loading / Empty / Error / Offline fazem parte do design, não são exceção.</a:t>
            </a:r>
            <a:endParaRPr sz="150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31"/>
          <p:cNvSpPr txBox="1"/>
          <p:nvPr/>
        </p:nvSpPr>
        <p:spPr>
          <a:xfrm>
            <a:off x="508000" y="4724400"/>
            <a:ext cx="8255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877D8F"/>
                </a:solidFill>
                <a:latin typeface="Inter"/>
                <a:ea typeface="Inter"/>
                <a:cs typeface="Inter"/>
                <a:sym typeface="Inter"/>
              </a:rPr>
              <a:t>Fonte: developer.apple.com/design/human-interface-guidelines — Layout, Tab Bars e Controls</a:t>
            </a:r>
            <a:endParaRPr sz="950">
              <a:solidFill>
                <a:srgbClr val="877D8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/>
        </p:nvSpPr>
        <p:spPr>
          <a:xfrm>
            <a:off x="457200" y="279400"/>
            <a:ext cx="8255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Design System CEPRAEA — fundações visuais</a:t>
            </a:r>
            <a:endParaRPr b="1" sz="25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32"/>
          <p:cNvSpPr txBox="1"/>
          <p:nvPr/>
        </p:nvSpPr>
        <p:spPr>
          <a:xfrm>
            <a:off x="508000" y="1143000"/>
            <a:ext cx="82551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8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TONALIDADE</a:t>
            </a:r>
            <a:endParaRPr sz="138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8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Dark premium esportivo. Preto/plum, não “gaming”. Sem glow permanente.</a:t>
            </a:r>
            <a:endParaRPr sz="138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8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8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PALETA</a:t>
            </a:r>
            <a:endParaRPr sz="138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8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BG #0B0910 · Surface 1 #131117 · Surface 2 #19161D · Border #302A35</a:t>
            </a:r>
            <a:endParaRPr sz="138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8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Text 1 #F5F3F6 · Text 2 #A49DA9 · CEPRAEA Lime #A8D34B</a:t>
            </a:r>
            <a:endParaRPr sz="138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8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SIM #A8D34B · TALVEZ #D6B84E · NÃO #D96868 · Sem resposta #8D8793</a:t>
            </a:r>
            <a:endParaRPr sz="138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8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8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TIPOGRAFIA</a:t>
            </a:r>
            <a:endParaRPr sz="138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8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UI: Inter. Datas/horários/números de impacto: Barlow Condensed SemiBold.</a:t>
            </a:r>
            <a:endParaRPr sz="138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8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Escala: 12 / 14 / 16 / 20 / 28 / 44. Sem caixa alta em blocos longos.</a:t>
            </a:r>
            <a:endParaRPr sz="138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8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8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FORMA</a:t>
            </a:r>
            <a:endParaRPr sz="138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8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Grid 8 pt · margem mobile 16 pt · seção 24 pt · card radius 18 pt · borda 1 px · sombra mínima.</a:t>
            </a:r>
            <a:endParaRPr sz="138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/>
        </p:nvSpPr>
        <p:spPr>
          <a:xfrm>
            <a:off x="457200" y="279400"/>
            <a:ext cx="8255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Dashboard final — ATLETA</a:t>
            </a:r>
            <a:endParaRPr b="1" sz="25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33"/>
          <p:cNvSpPr txBox="1"/>
          <p:nvPr/>
        </p:nvSpPr>
        <p:spPr>
          <a:xfrm>
            <a:off x="508000" y="1117600"/>
            <a:ext cx="8255100" cy="3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PRINCÍPIO</a:t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A atleta abre o app para saber: quando, onde, preciso responder e o que vem depois.</a:t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HOME — ORDEM FIXA</a:t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1. Header compacto: marca + nome, sem foto obrigatória.</a:t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2. Hero “Próximo treino”: data, hora, local e status atual.</a:t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3. Segmented control: SIM · TALVEZ · NÃO. Este é o único CTA primário da Home.</a:t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4. Próxima competição em faixa única, não card pesado.</a:t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5. “Sua agenda”: 3 próximos eventos em lista.</a:t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6. Bottom nav: Início · Agenda · Perfil.</a:t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REGRAS</a:t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Sem métricas de performance na Home · sem respostas de outras atletas · sem wellness sensível · sem mais de 3 cards principais · imagem esportiva opcional e editorial, nunca necessária para compreender o estado.</a:t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/>
        </p:nvSpPr>
        <p:spPr>
          <a:xfrm>
            <a:off x="457200" y="279400"/>
            <a:ext cx="8255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Dashboard final — TREINADOR</a:t>
            </a:r>
            <a:endParaRPr b="1" sz="25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34"/>
          <p:cNvSpPr txBox="1"/>
          <p:nvPr/>
        </p:nvSpPr>
        <p:spPr>
          <a:xfrm>
            <a:off x="508000" y="1092200"/>
            <a:ext cx="82551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PRINCÍPIO</a:t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Central de decisão. Toda métrica deve responder: quem vai, qual composição, o que exige ação e o que vem depois.</a:t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HOME — ORDEM FIXA</a:t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1. Próximo treino: data, hora e local.</a:t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2. Respostas inline: SIM · TALVEZ · NÃO · SEM RESPOSTA, com contagem e %.</a:t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3. Composição confirmada: Goleiras · Defesa · Ataque.</a:t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4. Próxima competição + Resultados da temporada.</a:t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5. Alertas / Qualidade dos dados com ação direta.</a:t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6. Bottom nav: Central · Treino · Equipe · Mais.</a:t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REGRAS</a:t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Máximo de 6 módulos na Home · sem gráfico se o número resolve · drill-down para lista nominal · qualidade dos dados é operacional · desktop pode virar duas colunas; mobile mantém uma ordem linear.</a:t>
            </a:r>
            <a:endParaRPr sz="137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/>
        </p:nvSpPr>
        <p:spPr>
          <a:xfrm>
            <a:off x="457200" y="279400"/>
            <a:ext cx="8255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Componentes, ícones e microinterações</a:t>
            </a:r>
            <a:endParaRPr b="1" sz="25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" name="Google Shape;219;p35"/>
          <p:cNvSpPr txBox="1"/>
          <p:nvPr/>
        </p:nvSpPr>
        <p:spPr>
          <a:xfrm>
            <a:off x="508000" y="1092200"/>
            <a:ext cx="82551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ICONOGRAFIA PRÓPRIA</a:t>
            </a:r>
            <a:endParaRPr sz="13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24×24 · stroke 1,75 px · terminais arredondados · linguagem geométrica CEPRAEA.</a:t>
            </a:r>
            <a:endParaRPr sz="13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Criar pictogramas próprios para: handebol de praia, quadra/areia, goleira, defesa, ataque, treino, competição, disponibilidade e qualidade de dados.</a:t>
            </a:r>
            <a:endParaRPr sz="13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Proibido usar “dumbbell” genérico como símbolo universal de treino.</a:t>
            </a:r>
            <a:endParaRPr sz="13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COMPONENTES</a:t>
            </a:r>
            <a:endParaRPr sz="13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Segmented control de disponibilidade · Event Row · Status Chip · Metric Strip · Alert Row · Bottom Sheet de confirmação · Empty/Error/Offline state.</a:t>
            </a:r>
            <a:endParaRPr sz="13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INTERAÇÃO</a:t>
            </a:r>
            <a:endParaRPr sz="13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Tap feedback 150–180 ms · transição 180–220 ms · sem pulsos/glow · mudança de SIM/TALVEZ/NÃO confirma visualmente e permite desfazer por alguns segundos.</a:t>
            </a:r>
            <a:endParaRPr sz="13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ANTI-GENÉRICO</a:t>
            </a:r>
            <a:endParaRPr sz="13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D6D1DB"/>
                </a:solidFill>
                <a:latin typeface="Inter"/>
                <a:ea typeface="Inter"/>
                <a:cs typeface="Inter"/>
                <a:sym typeface="Inter"/>
              </a:rPr>
              <a:t>Nenhum card existe só para “encher dashboard”. Nenhum ícone sem função semântica. Nenhuma ilustração esportiva deve substituir informação.</a:t>
            </a:r>
            <a:endParaRPr sz="1350">
              <a:solidFill>
                <a:srgbClr val="D6D1D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"/>
          <p:cNvSpPr txBox="1"/>
          <p:nvPr/>
        </p:nvSpPr>
        <p:spPr>
          <a:xfrm>
            <a:off x="431800" y="228600"/>
            <a:ext cx="8255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Especificação visual — Home da ATLETA</a:t>
            </a:r>
            <a:endParaRPr b="1" sz="23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482600" y="863600"/>
            <a:ext cx="2793900" cy="4064100"/>
          </a:xfrm>
          <a:prstGeom prst="roundRect">
            <a:avLst>
              <a:gd fmla="val 16667" name="adj"/>
            </a:avLst>
          </a:prstGeom>
          <a:solidFill>
            <a:srgbClr val="0E0B11"/>
          </a:solidFill>
          <a:ln cap="flat" cmpd="sng" w="12700">
            <a:solidFill>
              <a:srgbClr val="332B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6"/>
          <p:cNvSpPr txBox="1"/>
          <p:nvPr/>
        </p:nvSpPr>
        <p:spPr>
          <a:xfrm>
            <a:off x="698500" y="1041400"/>
            <a:ext cx="234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50">
                <a:solidFill>
                  <a:srgbClr val="C7D68C"/>
                </a:solidFill>
                <a:latin typeface="Inter"/>
                <a:ea typeface="Inter"/>
                <a:cs typeface="Inter"/>
                <a:sym typeface="Inter"/>
              </a:rPr>
              <a:t>CEPRAEA     Bom dia, Paola</a:t>
            </a:r>
            <a:endParaRPr b="1" sz="950">
              <a:solidFill>
                <a:srgbClr val="C7D68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36"/>
          <p:cNvSpPr/>
          <p:nvPr/>
        </p:nvSpPr>
        <p:spPr>
          <a:xfrm>
            <a:off x="698500" y="1473200"/>
            <a:ext cx="2349600" cy="1422300"/>
          </a:xfrm>
          <a:prstGeom prst="roundRect">
            <a:avLst>
              <a:gd fmla="val 16667" name="adj"/>
            </a:avLst>
          </a:prstGeom>
          <a:solidFill>
            <a:srgbClr val="161218"/>
          </a:solidFill>
          <a:ln cap="flat" cmpd="sng" w="10150">
            <a:solidFill>
              <a:srgbClr val="383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6"/>
          <p:cNvSpPr txBox="1"/>
          <p:nvPr/>
        </p:nvSpPr>
        <p:spPr>
          <a:xfrm>
            <a:off x="863600" y="1625600"/>
            <a:ext cx="203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70">
                <a:solidFill>
                  <a:srgbClr val="EBE5ED"/>
                </a:solidFill>
                <a:latin typeface="Inter"/>
                <a:ea typeface="Inter"/>
                <a:cs typeface="Inter"/>
                <a:sym typeface="Inter"/>
              </a:rPr>
              <a:t>PRÓXIMO TREINO</a:t>
            </a:r>
            <a:endParaRPr sz="970">
              <a:solidFill>
                <a:srgbClr val="EBE5E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70">
                <a:solidFill>
                  <a:srgbClr val="EBE5ED"/>
                </a:solidFill>
                <a:latin typeface="Inter"/>
                <a:ea typeface="Inter"/>
                <a:cs typeface="Inter"/>
                <a:sym typeface="Inter"/>
              </a:rPr>
              <a:t>25 AGO   20:00–21:30</a:t>
            </a:r>
            <a:endParaRPr sz="970">
              <a:solidFill>
                <a:srgbClr val="EBE5E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70">
                <a:solidFill>
                  <a:srgbClr val="EBE5ED"/>
                </a:solidFill>
                <a:latin typeface="Inter"/>
                <a:ea typeface="Inter"/>
                <a:cs typeface="Inter"/>
                <a:sym typeface="Inter"/>
              </a:rPr>
              <a:t>Copacabana • Posto 4</a:t>
            </a:r>
            <a:endParaRPr sz="970">
              <a:solidFill>
                <a:srgbClr val="EBE5E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0">
              <a:solidFill>
                <a:srgbClr val="EBE5E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70">
                <a:solidFill>
                  <a:srgbClr val="EBE5ED"/>
                </a:solidFill>
                <a:latin typeface="Inter"/>
                <a:ea typeface="Inter"/>
                <a:cs typeface="Inter"/>
                <a:sym typeface="Inter"/>
              </a:rPr>
              <a:t>[ SIM ]  TALVEZ  NÃO</a:t>
            </a:r>
            <a:endParaRPr sz="970">
              <a:solidFill>
                <a:srgbClr val="EBE5E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Google Shape;229;p36"/>
          <p:cNvSpPr/>
          <p:nvPr/>
        </p:nvSpPr>
        <p:spPr>
          <a:xfrm>
            <a:off x="698500" y="3035300"/>
            <a:ext cx="2349600" cy="533400"/>
          </a:xfrm>
          <a:prstGeom prst="roundRect">
            <a:avLst>
              <a:gd fmla="val 16667" name="adj"/>
            </a:avLst>
          </a:prstGeom>
          <a:solidFill>
            <a:srgbClr val="131015"/>
          </a:solidFill>
          <a:ln cap="flat" cmpd="sng" w="8900">
            <a:solidFill>
              <a:srgbClr val="2E29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6"/>
          <p:cNvSpPr txBox="1"/>
          <p:nvPr/>
        </p:nvSpPr>
        <p:spPr>
          <a:xfrm>
            <a:off x="863600" y="3149600"/>
            <a:ext cx="2031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80">
                <a:solidFill>
                  <a:srgbClr val="DBD6DE"/>
                </a:solidFill>
                <a:latin typeface="Inter"/>
                <a:ea typeface="Inter"/>
                <a:cs typeface="Inter"/>
                <a:sym typeface="Inter"/>
              </a:rPr>
              <a:t>Próxima competição · International Challenge</a:t>
            </a:r>
            <a:endParaRPr sz="880">
              <a:solidFill>
                <a:srgbClr val="DBD6D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1" name="Google Shape;231;p36"/>
          <p:cNvSpPr txBox="1"/>
          <p:nvPr/>
        </p:nvSpPr>
        <p:spPr>
          <a:xfrm>
            <a:off x="787400" y="3695700"/>
            <a:ext cx="21591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60">
                <a:solidFill>
                  <a:srgbClr val="C7BFCC"/>
                </a:solidFill>
                <a:latin typeface="Inter"/>
                <a:ea typeface="Inter"/>
                <a:cs typeface="Inter"/>
                <a:sym typeface="Inter"/>
              </a:rPr>
              <a:t>SUA AGENDA</a:t>
            </a:r>
            <a:endParaRPr sz="860">
              <a:solidFill>
                <a:srgbClr val="C7BFC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60">
                <a:solidFill>
                  <a:srgbClr val="C7BFCC"/>
                </a:solidFill>
                <a:latin typeface="Inter"/>
                <a:ea typeface="Inter"/>
                <a:cs typeface="Inter"/>
                <a:sym typeface="Inter"/>
              </a:rPr>
              <a:t>27 AGO  Treino  Confirmada</a:t>
            </a:r>
            <a:endParaRPr sz="860">
              <a:solidFill>
                <a:srgbClr val="C7BFC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60">
                <a:solidFill>
                  <a:srgbClr val="C7BFCC"/>
                </a:solidFill>
                <a:latin typeface="Inter"/>
                <a:ea typeface="Inter"/>
                <a:cs typeface="Inter"/>
                <a:sym typeface="Inter"/>
              </a:rPr>
              <a:t>29 AGO  Treino  Responder</a:t>
            </a:r>
            <a:endParaRPr sz="860">
              <a:solidFill>
                <a:srgbClr val="C7BFC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60">
                <a:solidFill>
                  <a:srgbClr val="C7BFCC"/>
                </a:solidFill>
                <a:latin typeface="Inter"/>
                <a:ea typeface="Inter"/>
                <a:cs typeface="Inter"/>
                <a:sym typeface="Inter"/>
              </a:rPr>
              <a:t>30 AGO  Treino  Responder</a:t>
            </a:r>
            <a:endParaRPr sz="860">
              <a:solidFill>
                <a:srgbClr val="C7BFC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36"/>
          <p:cNvSpPr txBox="1"/>
          <p:nvPr/>
        </p:nvSpPr>
        <p:spPr>
          <a:xfrm>
            <a:off x="762000" y="4597400"/>
            <a:ext cx="22224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50">
                <a:solidFill>
                  <a:srgbClr val="A8D14A"/>
                </a:solidFill>
                <a:latin typeface="Inter"/>
                <a:ea typeface="Inter"/>
                <a:cs typeface="Inter"/>
                <a:sym typeface="Inter"/>
              </a:rPr>
              <a:t>Início           Agenda           Perfil</a:t>
            </a:r>
            <a:endParaRPr b="1" sz="850">
              <a:solidFill>
                <a:srgbClr val="A8D1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36"/>
          <p:cNvSpPr txBox="1"/>
          <p:nvPr/>
        </p:nvSpPr>
        <p:spPr>
          <a:xfrm>
            <a:off x="3746500" y="1041400"/>
            <a:ext cx="4953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20">
                <a:solidFill>
                  <a:srgbClr val="D4CFD9"/>
                </a:solidFill>
                <a:latin typeface="Inter"/>
                <a:ea typeface="Inter"/>
                <a:cs typeface="Inter"/>
                <a:sym typeface="Inter"/>
              </a:rPr>
              <a:t>HIERARQUIA</a:t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20">
                <a:solidFill>
                  <a:srgbClr val="D4CFD9"/>
                </a:solidFill>
                <a:latin typeface="Inter"/>
                <a:ea typeface="Inter"/>
                <a:cs typeface="Inter"/>
                <a:sym typeface="Inter"/>
              </a:rPr>
              <a:t>1º resposta ao próximo treino</a:t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20">
                <a:solidFill>
                  <a:srgbClr val="D4CFD9"/>
                </a:solidFill>
                <a:latin typeface="Inter"/>
                <a:ea typeface="Inter"/>
                <a:cs typeface="Inter"/>
                <a:sym typeface="Inter"/>
              </a:rPr>
              <a:t>2º próxima competição</a:t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20">
                <a:solidFill>
                  <a:srgbClr val="D4CFD9"/>
                </a:solidFill>
                <a:latin typeface="Inter"/>
                <a:ea typeface="Inter"/>
                <a:cs typeface="Inter"/>
                <a:sym typeface="Inter"/>
              </a:rPr>
              <a:t>3º agenda curta</a:t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20">
                <a:solidFill>
                  <a:srgbClr val="D4CFD9"/>
                </a:solidFill>
                <a:latin typeface="Inter"/>
                <a:ea typeface="Inter"/>
                <a:cs typeface="Inter"/>
                <a:sym typeface="Inter"/>
              </a:rPr>
              <a:t>DENSIDADE</a:t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20">
                <a:solidFill>
                  <a:srgbClr val="D4CFD9"/>
                </a:solidFill>
                <a:latin typeface="Inter"/>
                <a:ea typeface="Inter"/>
                <a:cs typeface="Inter"/>
                <a:sym typeface="Inter"/>
              </a:rPr>
              <a:t>Uma coluna · 3 blocos principais · sem métricas de performance na Home.</a:t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20">
                <a:solidFill>
                  <a:srgbClr val="D4CFD9"/>
                </a:solidFill>
                <a:latin typeface="Inter"/>
                <a:ea typeface="Inter"/>
                <a:cs typeface="Inter"/>
                <a:sym typeface="Inter"/>
              </a:rPr>
              <a:t>VISUAL</a:t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20">
                <a:solidFill>
                  <a:srgbClr val="D4CFD9"/>
                </a:solidFill>
                <a:latin typeface="Inter"/>
                <a:ea typeface="Inter"/>
                <a:cs typeface="Inter"/>
                <a:sym typeface="Inter"/>
              </a:rPr>
              <a:t>Verde só em ação/status. Imagem esportiva, se usada, fica tonalizada e não rouba legibilidade.</a:t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20">
                <a:solidFill>
                  <a:srgbClr val="D4CFD9"/>
                </a:solidFill>
                <a:latin typeface="Inter"/>
                <a:ea typeface="Inter"/>
                <a:cs typeface="Inter"/>
                <a:sym typeface="Inter"/>
              </a:rPr>
              <a:t>COMPORTAMENTO</a:t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20">
                <a:solidFill>
                  <a:srgbClr val="D4CFD9"/>
                </a:solidFill>
                <a:latin typeface="Inter"/>
                <a:ea typeface="Inter"/>
                <a:cs typeface="Inter"/>
                <a:sym typeface="Inter"/>
              </a:rPr>
              <a:t>Tocar SIM/TALVEZ/NÃO salva imediatamente, confirma o novo estado e oferece “Desfazer” por alguns segundos.</a:t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70C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/>
        </p:nvSpPr>
        <p:spPr>
          <a:xfrm>
            <a:off x="431800" y="228600"/>
            <a:ext cx="8255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2F0F5"/>
                </a:solidFill>
                <a:latin typeface="Inter"/>
                <a:ea typeface="Inter"/>
                <a:cs typeface="Inter"/>
                <a:sym typeface="Inter"/>
              </a:rPr>
              <a:t>Especificação visual — Central do TREINADOR</a:t>
            </a:r>
            <a:endParaRPr b="1" sz="2300">
              <a:solidFill>
                <a:srgbClr val="F2F0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37"/>
          <p:cNvSpPr/>
          <p:nvPr/>
        </p:nvSpPr>
        <p:spPr>
          <a:xfrm>
            <a:off x="482600" y="863600"/>
            <a:ext cx="2793900" cy="4064100"/>
          </a:xfrm>
          <a:prstGeom prst="roundRect">
            <a:avLst>
              <a:gd fmla="val 16667" name="adj"/>
            </a:avLst>
          </a:prstGeom>
          <a:solidFill>
            <a:srgbClr val="0E0B11"/>
          </a:solidFill>
          <a:ln cap="flat" cmpd="sng" w="12700">
            <a:solidFill>
              <a:srgbClr val="332B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7"/>
          <p:cNvSpPr txBox="1"/>
          <p:nvPr/>
        </p:nvSpPr>
        <p:spPr>
          <a:xfrm>
            <a:off x="698500" y="1041400"/>
            <a:ext cx="23496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30">
                <a:solidFill>
                  <a:srgbClr val="C7D68C"/>
                </a:solidFill>
                <a:latin typeface="Inter"/>
                <a:ea typeface="Inter"/>
                <a:cs typeface="Inter"/>
                <a:sym typeface="Inter"/>
              </a:rPr>
              <a:t>CEPRAEA     Central do treinador</a:t>
            </a:r>
            <a:endParaRPr b="1" sz="930">
              <a:solidFill>
                <a:srgbClr val="C7D68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Google Shape;241;p37"/>
          <p:cNvSpPr/>
          <p:nvPr/>
        </p:nvSpPr>
        <p:spPr>
          <a:xfrm>
            <a:off x="698500" y="1447800"/>
            <a:ext cx="2349600" cy="952500"/>
          </a:xfrm>
          <a:prstGeom prst="roundRect">
            <a:avLst>
              <a:gd fmla="val 16667" name="adj"/>
            </a:avLst>
          </a:prstGeom>
          <a:solidFill>
            <a:srgbClr val="161218"/>
          </a:solidFill>
          <a:ln cap="flat" cmpd="sng" w="10150">
            <a:solidFill>
              <a:srgbClr val="383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7"/>
          <p:cNvSpPr txBox="1"/>
          <p:nvPr/>
        </p:nvSpPr>
        <p:spPr>
          <a:xfrm>
            <a:off x="863600" y="1600200"/>
            <a:ext cx="20319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EBE5ED"/>
                </a:solidFill>
                <a:latin typeface="Inter"/>
                <a:ea typeface="Inter"/>
                <a:cs typeface="Inter"/>
                <a:sym typeface="Inter"/>
              </a:rPr>
              <a:t>PRÓXIMO TREINO</a:t>
            </a:r>
            <a:endParaRPr sz="950">
              <a:solidFill>
                <a:srgbClr val="EBE5E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EBE5ED"/>
                </a:solidFill>
                <a:latin typeface="Inter"/>
                <a:ea typeface="Inter"/>
                <a:cs typeface="Inter"/>
                <a:sym typeface="Inter"/>
              </a:rPr>
              <a:t>25 AGO · 20:00–21:30</a:t>
            </a:r>
            <a:endParaRPr sz="950">
              <a:solidFill>
                <a:srgbClr val="EBE5E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>
                <a:solidFill>
                  <a:srgbClr val="EBE5ED"/>
                </a:solidFill>
                <a:latin typeface="Inter"/>
                <a:ea typeface="Inter"/>
                <a:cs typeface="Inter"/>
                <a:sym typeface="Inter"/>
              </a:rPr>
              <a:t>Copacabana • Posto 4</a:t>
            </a:r>
            <a:endParaRPr sz="950">
              <a:solidFill>
                <a:srgbClr val="EBE5E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749300" y="2527300"/>
            <a:ext cx="22860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50">
                <a:solidFill>
                  <a:srgbClr val="D4CFD9"/>
                </a:solidFill>
                <a:latin typeface="Inter"/>
                <a:ea typeface="Inter"/>
                <a:cs typeface="Inter"/>
                <a:sym typeface="Inter"/>
              </a:rPr>
              <a:t>SIM 7    TALVEZ 2    NÃO 3    SEM RESPOSTA 7</a:t>
            </a:r>
            <a:endParaRPr b="1" sz="85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Google Shape;244;p37"/>
          <p:cNvSpPr/>
          <p:nvPr/>
        </p:nvSpPr>
        <p:spPr>
          <a:xfrm>
            <a:off x="698500" y="3086100"/>
            <a:ext cx="2349600" cy="571500"/>
          </a:xfrm>
          <a:prstGeom prst="roundRect">
            <a:avLst>
              <a:gd fmla="val 16667" name="adj"/>
            </a:avLst>
          </a:prstGeom>
          <a:solidFill>
            <a:srgbClr val="131015"/>
          </a:solidFill>
          <a:ln cap="flat" cmpd="sng" w="8900">
            <a:solidFill>
              <a:srgbClr val="2E29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7"/>
          <p:cNvSpPr txBox="1"/>
          <p:nvPr/>
        </p:nvSpPr>
        <p:spPr>
          <a:xfrm>
            <a:off x="838200" y="3200400"/>
            <a:ext cx="209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70">
                <a:solidFill>
                  <a:srgbClr val="CCD994"/>
                </a:solidFill>
                <a:latin typeface="Inter"/>
                <a:ea typeface="Inter"/>
                <a:cs typeface="Inter"/>
                <a:sym typeface="Inter"/>
              </a:rPr>
              <a:t>GOLEIRAS 1    DEFESA 1    ATAQUE 5</a:t>
            </a:r>
            <a:endParaRPr b="1" sz="870">
              <a:solidFill>
                <a:srgbClr val="CCD99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774700" y="3797300"/>
            <a:ext cx="22224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80">
                <a:solidFill>
                  <a:srgbClr val="C7BFCC"/>
                </a:solidFill>
                <a:latin typeface="Inter"/>
                <a:ea typeface="Inter"/>
                <a:cs typeface="Inter"/>
                <a:sym typeface="Inter"/>
              </a:rPr>
              <a:t>Próxima competição  |  Temporada</a:t>
            </a:r>
            <a:endParaRPr sz="880">
              <a:solidFill>
                <a:srgbClr val="C7BFC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80">
                <a:solidFill>
                  <a:srgbClr val="C7BFCC"/>
                </a:solidFill>
                <a:latin typeface="Inter"/>
                <a:ea typeface="Inter"/>
                <a:cs typeface="Inter"/>
                <a:sym typeface="Inter"/>
              </a:rPr>
              <a:t>Alertas / Qualidade dos dados</a:t>
            </a:r>
            <a:endParaRPr sz="880">
              <a:solidFill>
                <a:srgbClr val="C7BFC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736600" y="4597400"/>
            <a:ext cx="2286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20">
                <a:solidFill>
                  <a:srgbClr val="A8D14A"/>
                </a:solidFill>
                <a:latin typeface="Inter"/>
                <a:ea typeface="Inter"/>
                <a:cs typeface="Inter"/>
                <a:sym typeface="Inter"/>
              </a:rPr>
              <a:t>Central      Treino      Equipe      Mais</a:t>
            </a:r>
            <a:endParaRPr b="1" sz="820">
              <a:solidFill>
                <a:srgbClr val="A8D1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3746500" y="1041400"/>
            <a:ext cx="4953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20">
                <a:solidFill>
                  <a:srgbClr val="D4CFD9"/>
                </a:solidFill>
                <a:latin typeface="Inter"/>
                <a:ea typeface="Inter"/>
                <a:cs typeface="Inter"/>
                <a:sym typeface="Inter"/>
              </a:rPr>
              <a:t>HIERARQUIA</a:t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20">
                <a:solidFill>
                  <a:srgbClr val="D4CFD9"/>
                </a:solidFill>
                <a:latin typeface="Inter"/>
                <a:ea typeface="Inter"/>
                <a:cs typeface="Inter"/>
                <a:sym typeface="Inter"/>
              </a:rPr>
              <a:t>1º próximo treino</a:t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20">
                <a:solidFill>
                  <a:srgbClr val="D4CFD9"/>
                </a:solidFill>
                <a:latin typeface="Inter"/>
                <a:ea typeface="Inter"/>
                <a:cs typeface="Inter"/>
                <a:sym typeface="Inter"/>
              </a:rPr>
              <a:t>2º respostas + composição</a:t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20">
                <a:solidFill>
                  <a:srgbClr val="D4CFD9"/>
                </a:solidFill>
                <a:latin typeface="Inter"/>
                <a:ea typeface="Inter"/>
                <a:cs typeface="Inter"/>
                <a:sym typeface="Inter"/>
              </a:rPr>
              <a:t>3º competição, temporada e alertas</a:t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20">
                <a:solidFill>
                  <a:srgbClr val="D4CFD9"/>
                </a:solidFill>
                <a:latin typeface="Inter"/>
                <a:ea typeface="Inter"/>
                <a:cs typeface="Inter"/>
                <a:sym typeface="Inter"/>
              </a:rPr>
              <a:t>DENSIDADE</a:t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20">
                <a:solidFill>
                  <a:srgbClr val="D4CFD9"/>
                </a:solidFill>
                <a:latin typeface="Inter"/>
                <a:ea typeface="Inter"/>
                <a:cs typeface="Inter"/>
                <a:sym typeface="Inter"/>
              </a:rPr>
              <a:t>Mais alta que a atleta, porém no máximo 6 módulos. Números antes de gráficos.</a:t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20">
                <a:solidFill>
                  <a:srgbClr val="D4CFD9"/>
                </a:solidFill>
                <a:latin typeface="Inter"/>
                <a:ea typeface="Inter"/>
                <a:cs typeface="Inter"/>
                <a:sym typeface="Inter"/>
              </a:rPr>
              <a:t>DRILL-DOWN</a:t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20">
                <a:solidFill>
                  <a:srgbClr val="D4CFD9"/>
                </a:solidFill>
                <a:latin typeface="Inter"/>
                <a:ea typeface="Inter"/>
                <a:cs typeface="Inter"/>
                <a:sym typeface="Inter"/>
              </a:rPr>
              <a:t>Tocar em “SIM 7” abre lista nominal. Tocar em “Goleiras 1” filtra composição. Tocar em alerta abre a ação de correção.</a:t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20">
                <a:solidFill>
                  <a:srgbClr val="D4CFD9"/>
                </a:solidFill>
                <a:latin typeface="Inter"/>
                <a:ea typeface="Inter"/>
                <a:cs typeface="Inter"/>
                <a:sym typeface="Inter"/>
              </a:rPr>
              <a:t>RESPONSIVO</a:t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20">
                <a:solidFill>
                  <a:srgbClr val="D4CFD9"/>
                </a:solidFill>
                <a:latin typeface="Inter"/>
                <a:ea typeface="Inter"/>
                <a:cs typeface="Inter"/>
                <a:sym typeface="Inter"/>
              </a:rPr>
              <a:t>Mobile = fluxo linear. Desktop = duas colunas, mantendo mesma prioridade.</a:t>
            </a:r>
            <a:endParaRPr sz="1320">
              <a:solidFill>
                <a:srgbClr val="D4CFD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